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everyone. Today I'm introducing pncli — the Project Nexus CLI.</a:t>
            </a:r>
          </a:p>
          <a:p/>
          <a:p>
            <a:r>
              <a:t>The one-line pitch: pncli gives you a single command-line tool that talks to your entire enterprise toolchain — Jira, Bitbucket, GitHub, Confluence, Jenkins, OpenShift, SonarQube, ServiceNow and more. Seventeen services, one consistent interface.</a:t>
            </a:r>
          </a:p>
          <a:p/>
          <a:p>
            <a:r>
              <a:t>The twist that makes this exciting: it isn't just for humans. pncli is designed from the ground up so AI coding agents can drive these same tools safely and predictably.</a:t>
            </a:r>
          </a:p>
          <a:p/>
          <a:p>
            <a:r>
              <a:t>Set the agenda: the problem we have today, what pncli is, what it covers, and how to get started in under ten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Start with the pain — everyone in the room lives this.</a:t>
            </a:r>
          </a:p>
          <a:p/>
          <a:p>
            <a:r>
              <a:t>We run a serious enterprise stack: Jira or Azure DevOps for work, Bitbucket or GitHub for code, Jenkins for builds, SonarQube, Checkmarx, Contrast, and Sonatype for security, ServiceNow for change management, OpenShift for runtime. Individually great; together, fragmented.</a:t>
            </a:r>
          </a:p>
          <a:p/>
          <a:p>
            <a:r>
              <a:t>Point one and two: the human cost. Every routine task is a tour of browser tabs and login prompts.</a:t>
            </a:r>
          </a:p>
          <a:p/>
          <a:p>
            <a:r>
              <a:t>Point three: the automation cost. Teams keep writing bespoke scripts against 17 different REST APIs, each with its own auth style. They rot quickly.</a:t>
            </a:r>
          </a:p>
          <a:p/>
          <a:p>
            <a:r>
              <a:t>Point four is the kicker — highlighted in amber: AI coding agents are now doing real work in our repos, but they cannot click around web UIs. If a tool has no CLI, it effectively doesn't exist for the agent. That's the gap pncli closes.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 what is pncli, concretely?</a:t>
            </a:r>
          </a:p>
          <a:p/>
          <a:p>
            <a:r>
              <a:t>It's a single CLI binary that speaks directly to the REST APIs of each tool. Important detail: it needs no vendor CLIs installed — no oc, no kubectl, no per-tool client. That matters on locked-down build agents and developer laptops alike.</a:t>
            </a:r>
          </a:p>
          <a:p/>
          <a:p>
            <a:r>
              <a:t>Walk the four pillars:</a:t>
            </a:r>
          </a:p>
          <a:p>
            <a:r>
              <a:t>1. Consistency — every service follows the same 'pncli service command' grammar. Once you know one, you know them all.</a:t>
            </a:r>
          </a:p>
          <a:p>
            <a:r>
              <a:t>2. Structured output — everything comes back as a JSON envelope with status, service, command, and data. Scripts and agents parse it trivially.</a:t>
            </a:r>
          </a:p>
          <a:p>
            <a:r>
              <a:t>3. Layered configuration — more on this in a moment: env vars for CI, a personal config file, and repo-level defaults that get committed.</a:t>
            </a:r>
          </a:p>
          <a:p>
            <a:r>
              <a:t>4. Agent-native design — schema discovery commands, summaries that are pre-processed for reasoning, and input files for large payloads.</a:t>
            </a:r>
          </a:p>
          <a:p/>
          <a:p>
            <a:r>
              <a:t>The code sample shows the point: Jira and SonarQube are wildly different products, but the command shape is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full coverage map — seventeen services organized by the job they do.</a:t>
            </a:r>
          </a:p>
          <a:p/>
          <a:p>
            <a:r>
              <a:t>Plan &amp; Track: Jira with full sprint and custom-field support, Azure DevOps work items for teams on TFS, and Confluence for documentation — pages, comments, labels, attachments.</a:t>
            </a:r>
          </a:p>
          <a:p/>
          <a:p>
            <a:r>
              <a:t>Code &amp; Build: Bitbucket and GitHub for repos and pull requests — including creating repos from the command line — plus Jenkins build status and console output, and Artifactory for package and repo lookups.</a:t>
            </a:r>
          </a:p>
          <a:p/>
          <a:p>
            <a:r>
              <a:t>Secure — this column is unusually deep: SonarQube for code quality, Checkmarx for static analysis, Contrast for runtime IAST findings, Sonatype IQ for dependency policy, and SDElements for threat-model compliance tasks. Your whole AppSec posture is scriptable.</a:t>
            </a:r>
          </a:p>
          <a:p/>
          <a:p>
            <a:r>
              <a:t>Operate: OpenShift and Kubernetes health without kubectl, UrbanCode deployments, and ServiceNow change requests and incidents.</a:t>
            </a:r>
          </a:p>
          <a:p/>
          <a:p>
            <a:r>
              <a:t>Utilities: a local JWT decoder — handy when debugging auth — and the Skills Marketplace, which I'll show later.</a:t>
            </a:r>
          </a:p>
          <a:p/>
          <a:p>
            <a:r>
              <a:t>One caveat to mention honestly: Checkmarx and UrbanCode auth vary by server version, so they're marked 'test before relying on it' — pncli config test tells you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slide is why pncli is exciting rather than just convenient.</a:t>
            </a:r>
          </a:p>
          <a:p/>
          <a:p>
            <a:r>
              <a:t>Most CLIs were built for humans and agents struggle with them. pncli inverts that.</a:t>
            </a:r>
          </a:p>
          <a:p/>
          <a:p>
            <a:r>
              <a:t>First: self-describing schemas. An agent runs 'pncli jira schema' and gets the exact JSON contract plus a working example. No hallucinated field names.</a:t>
            </a:r>
          </a:p>
          <a:p/>
          <a:p>
            <a:r>
              <a:t>Second: pre-digested output. When you ask for pod health, you don't get 4,000 lines of raw Kubernetes API response — you get phase counts, restart counts, and explicit CrashLoopBackOff / OOMKilled / ImagePullBackOff flags. The tool does the summarizing so the agent spends its reasoning on the actual problem.</a:t>
            </a:r>
          </a:p>
          <a:p/>
          <a:p>
            <a:r>
              <a:t>Third: file-based inputs. Long Jira descriptions or ADO acceptance criteria don't get jammed into a command line — they go in a JSON file, and any field can reference another file with the @ syntax. This sidesteps shell length limits entirely.</a:t>
            </a:r>
          </a:p>
          <a:p/>
          <a:p>
            <a:r>
              <a:t>Fourth — subtle but critical for trust: when a flag overrides a file value, the override is printed and recorded in meta.overrides. The agent — and the human reviewing the agent — always knows exactly what was sent.</a:t>
            </a:r>
          </a:p>
          <a:p/>
          <a:p>
            <a:r>
              <a:t>Demo idea: run the schema command live here if there's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Configuration is where most multi-tool setups fall apart, so pncli keeps it to three clear layers.</a:t>
            </a:r>
          </a:p>
          <a:p/>
          <a:p>
            <a:r>
              <a:t>Layer one: environment variables — PNCLI, service name, key. Ephemeral and session-scoped, which makes them ideal for CI pipelines and agent sandboxes where you inject short-lived credentials. They override everything else.</a:t>
            </a:r>
          </a:p>
          <a:p/>
          <a:p>
            <a:r>
              <a:t>Layer two: the personal global config at ~/.pncli/config.json, managed with 'pncli config set'. Your email, user ID, server URLs, and tokens live here — set once per machine.</a:t>
            </a:r>
          </a:p>
          <a:p/>
          <a:p>
            <a:r>
              <a:t>Layer three is my favorite: repo defaults in a .pncli.json file at the repo root, committed with the code. The Jira project key, the default PR target branch, the Sonar project — they travel with the repository. A new teammate clones the repo and pncli already knows the context. So does an AI agent.</a:t>
            </a:r>
          </a:p>
          <a:p/>
          <a:p>
            <a:r>
              <a:t>For services like Jenkins where different teams run different controllers, the repo file can even override the base URL per project.</a:t>
            </a:r>
          </a:p>
          <a:p/>
          <a:p>
            <a:r>
              <a:t>And the safety net: 'pncli config test' checks connectivity to every configured service and tells you exactly which URL or token is wrong. Run it after setup, run it when anything breaks.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Let's make it concrete — a normal morning, entirely in the terminal.</a:t>
            </a:r>
          </a:p>
          <a:p/>
          <a:p>
            <a:r>
              <a:t>Step one: pull up the active sprint and my assigned issues. Note the sprint commands — pncli handles the Jira Agile API for you, resolving boards and sprints straight from a project key, with start dates, end dates, and sprint goals in the output.</a:t>
            </a:r>
          </a:p>
          <a:p/>
          <a:p>
            <a:r>
              <a:t>Step two: open the pull request. The target branch comes from the repo's .pncli.json, and on GitHub the owner and repo are auto-detected from the git remote — HTTPS or SSH format, either works.</a:t>
            </a:r>
          </a:p>
          <a:p/>
          <a:p>
            <a:r>
              <a:t>Step three: check the latest Jenkins build and the SonarQube issues for the service. Same command shape both times.</a:t>
            </a:r>
          </a:p>
          <a:p/>
          <a:p>
            <a:r>
              <a:t>Step four: production check. One command returns a pod-health summary — and in this example it immediately surfaces a CrashLoopBackOff pod. Follow up with 'pncli openshift logs --previous' to see why the container died, or 'pncli openshift events' for the warning events sorted by frequency.</a:t>
            </a:r>
          </a:p>
          <a:p/>
          <a:p>
            <a:r>
              <a:t>The punchline: four tools, zero browser tabs — and every one of these commands is equally runnable by an AI agent in a pipeline.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quick tour of the quality-of-life details — these are what make people stick with a tool.</a:t>
            </a:r>
          </a:p>
          <a:p/>
          <a:p>
            <a:r>
              <a:t>Auto-detection: if your git remote points at the configured GitHub host, pncli figures out the owner and repo itself. Less typing, fewer mistakes.</a:t>
            </a:r>
          </a:p>
          <a:p/>
          <a:p>
            <a:r>
              <a:t>Custom fields: Jira custom fields are normally a nightmare of opaque IDs. pncli lets you discover and register them once, then refer to 'Story Points' instead of customfield_10032 — though raw IDs still work with zero registration. Same idea on Azure DevOps with field aliases.</a:t>
            </a:r>
          </a:p>
          <a:p/>
          <a:p>
            <a:r>
              <a:t>Rich text from files: any string field in an input file can be '@path' to pull content from disk — so a long HTML description lives in a real file, not a shell string.</a:t>
            </a:r>
          </a:p>
          <a:p/>
          <a:p>
            <a:r>
              <a:t>JWT decode runs completely locally — worth emphasizing for security: no more pasting production tokens into jwt.io.</a:t>
            </a:r>
          </a:p>
          <a:p/>
          <a:p>
            <a:r>
              <a:t>Ops without kubectl: the OpenShift integration needs only a service-account token and a six-line read-only RBAC rule — pods, logs, events, metrics. Easy for cluster admins to approve because it can't write anything.</a:t>
            </a:r>
          </a:p>
          <a:p/>
          <a:p>
            <a:r>
              <a:t>And honest edges: two integrations — Checkmarx and UrbanCode — have version-dependent auth quirks on-premise. The docs say so plainly, and config test verifies your instance before you rely on it. I'd rather a tool tell me that up front.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Security deserves its own moment, because coverage here is unusually complete.</a:t>
            </a:r>
          </a:p>
          <a:p/>
          <a:p>
            <a:r>
              <a:t>Walk the layers of the stack:</a:t>
            </a:r>
          </a:p>
          <a:p>
            <a:r>
              <a:t>- SonarQube covers code quality and security hotspots at the source level.</a:t>
            </a:r>
          </a:p>
          <a:p>
            <a:r>
              <a:t>- Checkmarx brings in SAST findings from full scans.</a:t>
            </a:r>
          </a:p>
          <a:p>
            <a:r>
              <a:t>- Contrast IAST is the runtime view — vulnerabilities actually observed in running applications, which cuts through the false-positive noise of static tools.</a:t>
            </a:r>
          </a:p>
          <a:p>
            <a:r>
              <a:t>- Sonatype IQ handles the supply chain — 'pncli deps frisk' scans your dependencies against the org's IQ policies.</a:t>
            </a:r>
          </a:p>
          <a:p>
            <a:r>
              <a:t>- SDElements tracks the threat-model tasks and their compliance status per project.</a:t>
            </a:r>
          </a:p>
          <a:p/>
          <a:p>
            <a:r>
              <a:t>That's static, runtime, dependencies, and threat modeling — the full AppSec picture — all returning structured JSON from one CLI.</a:t>
            </a:r>
          </a:p>
          <a:p/>
          <a:p>
            <a:r>
              <a:t>Two ways to use it: gate a release pipeline on these results, or — the exciting one — have an AI agent pull all five before a release and write the risk summary for the change ticket. That used to be an afternoon of portal-hopping; now it's a script.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operations story is a troubleshooting funnel — four commands from 'something's wrong' to root cause.</a:t>
            </a:r>
          </a:p>
          <a:p/>
          <a:p>
            <a:r>
              <a:t>Start wide: the pods command gives you a namespace health summary — how many running, pending, failed, plus restart counts and explicit crash indicators.</a:t>
            </a:r>
          </a:p>
          <a:p/>
          <a:p>
            <a:r>
              <a:t>Narrow down: the events command returns only Warning events, sorted by frequency — the noisy recurring problem floats to the top.</a:t>
            </a:r>
          </a:p>
          <a:p/>
          <a:p>
            <a:r>
              <a:t>Get specific: pull logs from the previous container instance — the one that actually crashed — scoped to a container and line count.</a:t>
            </a:r>
          </a:p>
          <a:p/>
          <a:p>
            <a:r>
              <a:t>Confirm: per-container CPU and memory from the metrics API, which catches the OOMKill-by-a-hair cases. (Requires metrics-server in the cluster.)</a:t>
            </a:r>
          </a:p>
          <a:p/>
          <a:p>
            <a:r>
              <a:t>Right side — why platform teams say yes to this: there's nothing to install, and the required RBAC is a six-line, strictly read-only rule covering pods, logs, events, and metrics. A security reviewer can approve that in one glance.</a:t>
            </a:r>
          </a:p>
          <a:p/>
          <a:p>
            <a:r>
              <a:t>And the same CLI reaches UrbanCode for deployment state and ServiceNow for the change request that caused it all — so the incident narrative comes from one place.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last capability is the force multiplier — and honestly my favorite part.</a:t>
            </a:r>
          </a:p>
          <a:p/>
          <a:p>
            <a:r>
              <a:t>Organizations are building real internal expertise for AI agents: how we write Jira tickets, our review checklist, our deployment runbook. Today that knowledge lives in wikis nobody reads. The Skills Marketplace turns it into installable packages.</a:t>
            </a:r>
          </a:p>
          <a:p/>
          <a:p>
            <a:r>
              <a:t>The flow: your platform team maintains a git repo of skills — Bitbucket, GitHub, wherever — with a simple structure: a plugins directory, each plugin containing skills with a SKILL.md. Anyone registers it with 'marketplace add', browses with 'plugins', and installs with 'sync' — the --claude flag targets Claude Code, the default targets Copilot and Codex.</a:t>
            </a:r>
          </a:p>
          <a:p/>
          <a:p>
            <a:r>
              <a:t>Details that show maturity: you can register multiple marketplaces — an org-wide catalog and a team catalog side by side. Sync is incremental — it skips repos with no upstream changes. And 'sync --marketplace all' refreshes everything in one shot, which belongs in your laptop-setup script.</a:t>
            </a:r>
          </a:p>
          <a:p/>
          <a:p>
            <a:r>
              <a:t>The closing beat on this slide is real, not rhetorical: this deck was assembled by an AI agent reading the pncli skill that was distributed exactly this way. The loop genuinely closes — pncli gives agents hands, and the marketplace gives them your organization's knowledge.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Adoption is deliberately boring — six steps, under ten minutes.</a:t>
            </a:r>
          </a:p>
          <a:p/>
          <a:p>
            <a:r>
              <a:t>One: identity — your email and user ID, two config commands.</a:t>
            </a:r>
          </a:p>
          <a:p>
            <a:r>
              <a:t>Two: work tracking — Jira or Azure DevOps, base URL plus a personal access token.</a:t>
            </a:r>
          </a:p>
          <a:p>
            <a:r>
              <a:t>Three: source control — GitHub, Bitbucket, or ADO, same pattern.</a:t>
            </a:r>
          </a:p>
          <a:p>
            <a:r>
              <a:t>Four: optional services — only configure what your team actually uses. Skip the rest; nothing complains.</a:t>
            </a:r>
          </a:p>
          <a:p>
            <a:r>
              <a:t>Five: repo defaults — commit the project key and target branch into .pncli.json so the whole team inherits them.</a:t>
            </a:r>
          </a:p>
          <a:p>
            <a:r>
              <a:t>Six — the amber one: verify. 'pncli config test' pings every configured service and reports ok or not-ok with enough detail to fix the URL or token on the spot.</a:t>
            </a:r>
          </a:p>
          <a:p/>
          <a:p>
            <a:r>
              <a:t>The kicker at the bottom: there's a pncli setup skill for AI agents, so you can literally tell your coding agent 'set up pncli for me' and it interviews you through these six steps.</a:t>
            </a:r>
          </a:p>
          <a:p/>
          <a:p>
            <a:r>
              <a:t>Suggested pilot framing: one team, steps one through three plus their top two optional services, this sprint.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Land the message: seventeen tools, one interface — and for the first time, humans and AI agents share the same toolchain instead of the agents being locked out of it.</a:t>
            </a:r>
          </a:p>
          <a:p/>
          <a:p>
            <a:r>
              <a:t>Three concrete asks, left to right:</a:t>
            </a:r>
          </a:p>
          <a:p/>
          <a:p>
            <a:r>
              <a:t>First, pilot it. One team, one sprint. Identity, work tracker, source control, config test. The cost of trying is genuinely ten minutes.</a:t>
            </a:r>
          </a:p>
          <a:p/>
          <a:p>
            <a:r>
              <a:t>Second, wire in an agent. Give your coding agent pncli for the boring glue work — filing tickets, opening PRs, checking build and pod status — and watch how much of the dev loop it can now close on its own.</a:t>
            </a:r>
          </a:p>
          <a:p/>
          <a:p>
            <a:r>
              <a:t>Third, seed the marketplace. Stand up the internal skills repo and publish one skill — your team's ticket-writing conventions are a perfect first candidate.</a:t>
            </a:r>
          </a:p>
          <a:p/>
          <a:p>
            <a:r>
              <a:t>Close on the terminal line: 'pncli config test' — green across the board is ten minutes away.</a:t>
            </a:r>
          </a:p>
          <a:p/>
          <a:p>
            <a:r>
              <a:t>Then open for questions. Likely ones: SSO/token rotation (answer: env-var layer + short-lived tokens), Jira Cloud vs Data Center (both supported, token type differs), and whether gh CLI is preferred for GitHub (yes where you can distribute it — pncli covers the locked-down cases and keeps one CLI across all services).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778240" y="-109728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241280" y="4480560"/>
            <a:ext cx="3657600" cy="3657600"/>
          </a:xfrm>
          <a:prstGeom prst="roundRect">
            <a:avLst>
              <a:gd name="adj" fmla="val 50000"/>
            </a:avLst>
          </a:prstGeom>
          <a:solidFill>
            <a:srgbClr val="1322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1371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B454"/>
                </a:solidFill>
                <a:latin typeface="Segoe UI"/>
              </a:rPr>
              <a:t>P R O J E C T   N E X U S   C L 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200" b="1">
                <a:solidFill>
                  <a:srgbClr val="FFFFFF"/>
                </a:solidFill>
                <a:latin typeface="Segoe UI"/>
              </a:rPr>
              <a:t>pncli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063240"/>
            <a:ext cx="96926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00C2A8"/>
                </a:solidFill>
                <a:latin typeface="Segoe UI"/>
              </a:rPr>
              <a:t>One CLI. </a:t>
            </a:r>
            <a:r>
              <a:rPr sz="3000" b="0">
                <a:solidFill>
                  <a:srgbClr val="FFFFFF"/>
                </a:solidFill>
                <a:latin typeface="Segoe UI"/>
              </a:rPr>
              <a:t>Your entire enterprise toolchain.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977639"/>
            <a:ext cx="89611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>
                <a:solidFill>
                  <a:srgbClr val="AFBECF"/>
                </a:solidFill>
                <a:latin typeface="Segoe UI"/>
              </a:rPr>
              <a:t>Unified command-line access to 17 enterprise services — for humans and AI agents alike.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4892040"/>
            <a:ext cx="6583680" cy="105156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5056632"/>
            <a:ext cx="6126480" cy="722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jira create-issue --summary "Ship it"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openshift pods --namespace prod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7EE7B8"/>
                </a:solidFill>
                <a:latin typeface="Consolas"/>
              </a:rPr>
              <a:t>status: ok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5A6B7E"/>
                </a:solidFill>
                <a:latin typeface="Segoe UI"/>
              </a:rPr>
              <a:t>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Our toolchain is powerful — and painfully fragmented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544068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82296" cy="18288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22199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2433"/>
                </a:solidFill>
                <a:latin typeface="Segoe UI"/>
              </a:rPr>
              <a:t>17 tools, 17 UIs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15768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B7E"/>
                </a:solidFill>
                <a:latin typeface="Segoe UI"/>
              </a:rPr>
              <a:t>Issue trackers, code hosts, CI, scanners, ITSM — each with its own portal, quirks, and login dance.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965960"/>
            <a:ext cx="544068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965960"/>
            <a:ext cx="82296" cy="18288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37960" y="222199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2433"/>
                </a:solidFill>
                <a:latin typeface="Segoe UI"/>
              </a:rPr>
              <a:t>Context-switch tax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37960" y="2715768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B7E"/>
                </a:solidFill>
                <a:latin typeface="Segoe UI"/>
              </a:rPr>
              <a:t>A simple task — file a ticket, open a PR, check a scan — means bouncing across four browser tabs.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23360"/>
            <a:ext cx="544068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4023360"/>
            <a:ext cx="82296" cy="18288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27939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2433"/>
                </a:solidFill>
                <a:latin typeface="Segoe UI"/>
              </a:rPr>
              <a:t>Automation is brittle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773168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B7E"/>
                </a:solidFill>
                <a:latin typeface="Segoe UI"/>
              </a:rPr>
              <a:t>Every team re-writes the same one-off REST scripts against 17 different APIs and auth schemes.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7920" y="4023360"/>
            <a:ext cx="5440680" cy="18288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4023360"/>
            <a:ext cx="82296" cy="1828800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37960" y="4279392"/>
            <a:ext cx="4846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1A2433"/>
                </a:solidFill>
                <a:latin typeface="Segoe UI"/>
              </a:rPr>
              <a:t>AI agents are locked out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773168"/>
            <a:ext cx="48463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A6B7E"/>
                </a:solidFill>
                <a:latin typeface="Segoe UI"/>
              </a:rPr>
              <a:t>Coding agents can't click around web UIs. Without a CLI, your best tools are invisible to them.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THE ANSWER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7C8CA0"/>
                </a:solidFill>
                <a:latin typeface="Segoe UI"/>
              </a:rPr>
              <a:t>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pncli: one interface in front of everything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>
                <a:solidFill>
                  <a:srgbClr val="AFBECF"/>
                </a:solidFill>
                <a:latin typeface="Segoe UI"/>
              </a:rPr>
              <a:t>A single, consistent CLI that wraps the REST APIs of your enterprise tools — no vendor CLIs to install, no per-tool scripts.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77440"/>
            <a:ext cx="2679192" cy="2377440"/>
          </a:xfrm>
          <a:prstGeom prst="roundRect">
            <a:avLst>
              <a:gd name="adj" fmla="val 8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697480"/>
            <a:ext cx="502920" cy="82296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926080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Consistent verbs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520440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FBECF"/>
                </a:solidFill>
                <a:latin typeface="Segoe UI"/>
              </a:rPr>
              <a:t>pncli &lt;service&gt; &lt;command&gt; everywhere. Learn the pattern once, use it across 17 services.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2377440"/>
            <a:ext cx="2679192" cy="2377440"/>
          </a:xfrm>
          <a:prstGeom prst="roundRect">
            <a:avLst>
              <a:gd name="adj" fmla="val 8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85032" y="2697480"/>
            <a:ext cx="502920" cy="82296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85032" y="2926080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Structured JSON out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85032" y="3520440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FBECF"/>
                </a:solidFill>
                <a:latin typeface="Segoe UI"/>
              </a:rPr>
              <a:t>Every command returns machine-readable JSON — perfect for pipelines, jq, and AI agents.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2783" y="2377440"/>
            <a:ext cx="2679192" cy="2377440"/>
          </a:xfrm>
          <a:prstGeom prst="roundRect">
            <a:avLst>
              <a:gd name="adj" fmla="val 8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47103" y="2697480"/>
            <a:ext cx="502920" cy="82296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47103" y="2926080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Layered config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47103" y="3520440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FBECF"/>
                </a:solidFill>
                <a:latin typeface="Segoe UI"/>
              </a:rPr>
              <a:t>Env vars for CI, a global config file for you, and per-repo defaults committed with the code.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134856" y="2377440"/>
            <a:ext cx="2679192" cy="2377440"/>
          </a:xfrm>
          <a:prstGeom prst="roundRect">
            <a:avLst>
              <a:gd name="adj" fmla="val 8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9409176" y="2697480"/>
            <a:ext cx="502920" cy="82296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09176" y="2926080"/>
            <a:ext cx="21488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Agent-native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09176" y="3520440"/>
            <a:ext cx="21488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FBECF"/>
                </a:solidFill>
                <a:latin typeface="Segoe UI"/>
              </a:rPr>
              <a:t>Schema commands, pre-digested summaries, and file-based inputs designed for LLM workflows.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029200"/>
            <a:ext cx="11091672" cy="118872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77240" y="5193792"/>
            <a:ext cx="10634472" cy="8595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6E8299"/>
                </a:solidFill>
                <a:latin typeface="Consolas"/>
              </a:rPr>
              <a:t># the same shape, whatever the backend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jira search --project ACME --status "In Progress"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sonar issue --project my-service   # same flags, same JSON envelope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COVERAGE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5A6B7E"/>
                </a:solidFill>
                <a:latin typeface="Segoe U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17 services, five jobs to be done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2221992" cy="457200"/>
          </a:xfrm>
          <a:prstGeom prst="roundRect">
            <a:avLst>
              <a:gd name="adj" fmla="val 12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901952"/>
            <a:ext cx="22219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PLAN &amp; TRACK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23160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2496312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Jira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770632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issues, sprints, custom fields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3227832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300984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Azure DevOps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3575304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work items, boards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032504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4105656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Confluence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4379976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pages, comments, attachments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889504" y="1828800"/>
            <a:ext cx="2221992" cy="457200"/>
          </a:xfrm>
          <a:prstGeom prst="roundRect">
            <a:avLst>
              <a:gd name="adj" fmla="val 12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889504" y="1901952"/>
            <a:ext cx="22219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B454"/>
                </a:solidFill>
                <a:latin typeface="Segoe UI"/>
              </a:rPr>
              <a:t>CODE &amp; BUILD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9504" y="2423160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26664" y="2496312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Bitbucket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26664" y="2770632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repos, PRs, diffs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889504" y="3227832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26664" y="3300984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GitHub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26664" y="3575304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PRs, reviews, checks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889504" y="4032504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26664" y="4105656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Jenkins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26664" y="4379976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builds, console output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2889504" y="4837176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26664" y="4910328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Artifactory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026664" y="5184648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packages, virtual repos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230368" y="1828800"/>
            <a:ext cx="2221992" cy="457200"/>
          </a:xfrm>
          <a:prstGeom prst="roundRect">
            <a:avLst>
              <a:gd name="adj" fmla="val 12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230368" y="1901952"/>
            <a:ext cx="22219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SECURE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230368" y="2423160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67528" y="2496312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SonarQube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367528" y="2770632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quality &amp; security issues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230368" y="3227832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367528" y="3300984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Checkmarx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67528" y="3575304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SAST findings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230368" y="4032504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67528" y="4105656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Contrast IAST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67528" y="4379976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runtime vulnerabilities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230368" y="4837176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67528" y="4910328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Sonatype IQ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367528" y="5184648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dependency policy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230368" y="5641848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67528" y="5715000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SDElements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367528" y="5989320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threat model tasks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571232" y="1828800"/>
            <a:ext cx="2221992" cy="457200"/>
          </a:xfrm>
          <a:prstGeom prst="roundRect">
            <a:avLst>
              <a:gd name="adj" fmla="val 12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571232" y="1901952"/>
            <a:ext cx="22219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FFB454"/>
                </a:solidFill>
                <a:latin typeface="Segoe UI"/>
              </a:rPr>
              <a:t>OPERATE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571232" y="2423160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08392" y="2496312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OpenShift / K8s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08392" y="2770632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pods, events, logs, metrics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571232" y="3227832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708392" y="3300984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UrbanCode Deploy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708392" y="3575304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versions, deployments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571232" y="4032504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7708392" y="4105656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ServiceNow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08392" y="4379976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changes, incidents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912096" y="1828800"/>
            <a:ext cx="2221992" cy="457200"/>
          </a:xfrm>
          <a:prstGeom prst="roundRect">
            <a:avLst>
              <a:gd name="adj" fmla="val 12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912096" y="1901952"/>
            <a:ext cx="222199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UTILITIES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912096" y="2423160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049256" y="2496312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JWT decode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049256" y="2770632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inspect tokens locally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912096" y="3227832"/>
            <a:ext cx="2221992" cy="7132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049256" y="3300984"/>
            <a:ext cx="194767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50" b="1">
                <a:solidFill>
                  <a:srgbClr val="1A2433"/>
                </a:solidFill>
                <a:latin typeface="Segoe UI"/>
              </a:rPr>
              <a:t>Skills Marketplace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0049256" y="3575304"/>
            <a:ext cx="194767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>
                <a:solidFill>
                  <a:srgbClr val="5A6B7E"/>
                </a:solidFill>
                <a:latin typeface="Segoe UI"/>
              </a:rPr>
              <a:t>org-internal AI skills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THE DIFFERENTIATOR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7C8CA0"/>
                </a:solidFill>
                <a:latin typeface="Segoe UI"/>
              </a:rPr>
              <a:t>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Built for AI agents, not retrofitted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5440680" cy="141732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039111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0C2A8"/>
                </a:solidFill>
                <a:latin typeface="Segoe UI"/>
              </a:rPr>
              <a:t>Self-describing schemas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41447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5D2E0"/>
                </a:solidFill>
                <a:latin typeface="Segoe UI"/>
              </a:rPr>
              <a:t>pncli jira schema prints the JSON Schema plus a runnable example — agents discover the contract instead of guessing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874519"/>
            <a:ext cx="5440680" cy="141732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039111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0C2A8"/>
                </a:solidFill>
                <a:latin typeface="Segoe UI"/>
              </a:rPr>
              <a:t>Pre-digested summaries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441447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5D2E0"/>
                </a:solidFill>
                <a:latin typeface="Segoe UI"/>
              </a:rPr>
              <a:t>openshift pods returns phase counts, restart totals, and CrashLoopBackOff flags — analysis-ready, not a raw API dump.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474720"/>
            <a:ext cx="5440680" cy="141732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63931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0C2A8"/>
                </a:solidFill>
                <a:latin typeface="Segoe UI"/>
              </a:rPr>
              <a:t>File-based inputs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041648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5D2E0"/>
                </a:solidFill>
                <a:latin typeface="Segoe UI"/>
              </a:rPr>
              <a:t>--input-file takes long descriptions and many custom fields as JSON; @file references pull rich text from disk. No shell-length limits.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3474720"/>
            <a:ext cx="5440680" cy="141732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92240" y="363931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0C2A8"/>
                </a:solidFill>
                <a:latin typeface="Segoe UI"/>
              </a:rPr>
              <a:t>Deterministic overrides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4041648"/>
            <a:ext cx="49377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C5D2E0"/>
                </a:solidFill>
                <a:latin typeface="Segoe UI"/>
              </a:rPr>
              <a:t>CLI flags beat file values, and every override is reported in meta.overrides — agents always know what actually got sent.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212080"/>
            <a:ext cx="11091672" cy="114300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376672"/>
            <a:ext cx="10634472" cy="8138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jira schema --example-only &gt; issue.json</a:t>
            </a:r>
          </a:p>
          <a:p>
            <a:pPr algn="l">
              <a:lnSpc>
                <a:spcPct val="125000"/>
              </a:lnSpc>
            </a:pPr>
            <a:r>
              <a:rPr sz="1350" b="0" i="1">
                <a:solidFill>
                  <a:srgbClr val="6E8299"/>
                </a:solidFill>
                <a:latin typeface="Consolas"/>
              </a:rPr>
              <a:t># agent edits issue.json — description can be "@desc.html"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jira create-issue --input-file issue.json --priority Low  # flag wins, reported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CONFIGURATION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5A6B7E"/>
                </a:solidFill>
                <a:latin typeface="Segoe UI"/>
              </a:rPr>
              <a:t>06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Three layers of config, zero surprises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1109167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2221992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22576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05740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2433"/>
                </a:solidFill>
                <a:latin typeface="Segoe UI"/>
              </a:rPr>
              <a:t>Env vars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24871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B7E"/>
                </a:solidFill>
                <a:latin typeface="Consolas"/>
              </a:rPr>
              <a:t>PNCLI_&lt;SERVICE&gt;_&lt;KEY&gt;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0" y="2084832"/>
            <a:ext cx="5303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B7E"/>
                </a:solidFill>
                <a:latin typeface="Segoe UI"/>
              </a:rPr>
              <a:t>Ephemeral, per-session. Perfect for CI runners and short-lived agent sandboxes. Overrides the config file.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337560"/>
            <a:ext cx="1109167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2960" y="3639312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739896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47472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2433"/>
                </a:solidFill>
                <a:latin typeface="Segoe UI"/>
              </a:rPr>
              <a:t>Global config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90448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B7E"/>
                </a:solidFill>
                <a:latin typeface="Consolas"/>
              </a:rPr>
              <a:t>pncli config set jira.apiToken ...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502152"/>
            <a:ext cx="5303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B7E"/>
                </a:solidFill>
                <a:latin typeface="Segoe UI"/>
              </a:rPr>
              <a:t>Persistent, personal. Lives in ~/.pncli/config.json — your identity, URLs, and tokens, set once.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754880"/>
            <a:ext cx="11091672" cy="1234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5056632"/>
            <a:ext cx="640080" cy="640080"/>
          </a:xfrm>
          <a:prstGeom prst="roundRect">
            <a:avLst>
              <a:gd name="adj" fmla="val 50000"/>
            </a:avLst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5157216"/>
            <a:ext cx="640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4892040"/>
            <a:ext cx="29260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1A2433"/>
                </a:solidFill>
                <a:latin typeface="Segoe UI"/>
              </a:rPr>
              <a:t>Repo defaults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37360" y="532180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5A6B7E"/>
                </a:solidFill>
                <a:latin typeface="Consolas"/>
              </a:rPr>
              <a:t>pncli config set --repo defaults.jira.project ACME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4919472"/>
            <a:ext cx="53035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A6B7E"/>
                </a:solidFill>
                <a:latin typeface="Segoe UI"/>
              </a:rPr>
              <a:t>Committed in .pncli.json at the repo root — project keys and target branches travel with the code, so every teammate and every agent inherits them.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26364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1A2433"/>
                </a:solidFill>
                <a:latin typeface="Segoe UI"/>
              </a:rPr>
              <a:t>Try it: </a:t>
            </a:r>
            <a:r>
              <a:rPr sz="1300" b="1">
                <a:solidFill>
                  <a:srgbClr val="00C2A8"/>
                </a:solidFill>
                <a:latin typeface="Consolas"/>
              </a:rPr>
              <a:t>pncli config test</a:t>
            </a:r>
            <a:r>
              <a:rPr sz="1300" b="0">
                <a:solidFill>
                  <a:srgbClr val="5A6B7E"/>
                </a:solidFill>
                <a:latin typeface="Segoe UI"/>
              </a:rPr>
              <a:t>  validates every configured service and pinpoints bad URLs or expired tokens.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IN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7C8CA0"/>
                </a:solidFill>
                <a:latin typeface="Segoe UI"/>
              </a:rPr>
              <a:t>07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A dev-loop morning, without leaving the terminal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783080"/>
            <a:ext cx="11091672" cy="438912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47672"/>
            <a:ext cx="10634472" cy="40599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50" b="0" i="1">
                <a:solidFill>
                  <a:srgbClr val="6E8299"/>
                </a:solidFill>
                <a:latin typeface="Consolas"/>
              </a:rPr>
              <a:t># 1. What am I working on this sprint?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jira list-sprints --project ACME --state active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jira search --project ACME --assignee me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D8E4F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50" b="0" i="1">
                <a:solidFill>
                  <a:srgbClr val="6E8299"/>
                </a:solidFill>
                <a:latin typeface="Consolas"/>
              </a:rPr>
              <a:t># 2. Ship the fix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bitbucket create-pr --title "ACME-123: fix retry storm"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D8E4F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50" b="0" i="1">
                <a:solidFill>
                  <a:srgbClr val="6E8299"/>
                </a:solidFill>
                <a:latin typeface="Consolas"/>
              </a:rPr>
              <a:t># 3. Is quality green?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jenkins build --job my-service --latest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sonar issue --project my-service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D8E4F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50" b="0" i="1">
                <a:solidFill>
                  <a:srgbClr val="6E8299"/>
                </a:solidFill>
                <a:latin typeface="Consolas"/>
              </a:rPr>
              <a:t># 4. Anything on fire in prod?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00C2A8"/>
                </a:solidFill>
                <a:latin typeface="Consolas"/>
              </a:rPr>
              <a:t>$ </a:t>
            </a:r>
            <a:r>
              <a:rPr sz="1450" b="0">
                <a:solidFill>
                  <a:srgbClr val="E8EFF7"/>
                </a:solidFill>
                <a:latin typeface="Consolas"/>
              </a:rPr>
              <a:t>pncli openshift pods --namespace prod --label-selector app=my-service</a:t>
            </a:r>
          </a:p>
          <a:p>
            <a:pPr algn="l">
              <a:lnSpc>
                <a:spcPct val="125000"/>
              </a:lnSpc>
            </a:pPr>
            <a:r>
              <a:rPr sz="1450" b="0">
                <a:solidFill>
                  <a:srgbClr val="7EE7B8"/>
                </a:solidFill>
                <a:latin typeface="Consolas"/>
              </a:rPr>
              <a:t>running: 11   pending: 0   failed: 1   crashloopbackoff: my-service-7d9f...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POWER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5A6B7E"/>
                </a:solidFill>
                <a:latin typeface="Segoe UI"/>
              </a:rPr>
              <a:t>08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The details that make it feel effortless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2194560"/>
            <a:ext cx="457200" cy="73152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37744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Git-remote auto-detection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8346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On GitHub, --owner and --repo resolve from your git remote automatically — HTTPS, SSH, either format.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70831" y="192024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645151" y="2194560"/>
            <a:ext cx="457200" cy="73152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45151" y="237744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Custom fields by name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45151" y="28346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Register Jira custom fields once (pncli jira fields --discover) and use friendly names — or raw customfield_10032 IDs with no setup.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93023" y="192024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467343" y="2194560"/>
            <a:ext cx="457200" cy="73152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67343" y="237744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Rich text from files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67343" y="28346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fields.description: "@desc.html" pulls a big HTML description straight from disk into the API call.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06908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22960" y="4343400"/>
            <a:ext cx="457200" cy="73152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452628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Local JWT decoding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98348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pncli jwt decode &lt;token&gt; — header, payload, signature as JSON. Debug auth without pasting tokens into a website.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70831" y="406908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645151" y="4343400"/>
            <a:ext cx="457200" cy="73152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645151" y="452628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Ops without kubectl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5151" y="498348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OpenShift access is a plain REST call with a service-account token and a 6-line read-only RBAC rule. Nothing to install.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93023" y="4069080"/>
            <a:ext cx="3611880" cy="19202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467343" y="4343400"/>
            <a:ext cx="457200" cy="73152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467343" y="4526280"/>
            <a:ext cx="3063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1">
                <a:solidFill>
                  <a:srgbClr val="1A2433"/>
                </a:solidFill>
                <a:latin typeface="Segoe UI"/>
              </a:rPr>
              <a:t>Honest edges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67343" y="498348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A6B7E"/>
                </a:solidFill>
                <a:latin typeface="Segoe UI"/>
              </a:rPr>
              <a:t>Checkmarx and UrbanCode auth vary by server version — clearly flagged, and pncli config test verifies before you depend on them.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SECURITY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7C8CA0"/>
                </a:solidFill>
                <a:latin typeface="Segoe UI"/>
              </a:rPr>
              <a:t>09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Your entire AppSec posture, one query away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74519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05739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SonarQube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2075687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0C2A8"/>
                </a:solidFill>
                <a:latin typeface="Consolas"/>
              </a:rPr>
              <a:t>pncli sonar issue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075687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Code quality &amp; security hotspots per project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715768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898648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Checkmarx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916936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0C2A8"/>
                </a:solidFill>
                <a:latin typeface="Consolas"/>
              </a:rPr>
              <a:t>pncli checkmarx finding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29169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SAST vulnerability findings from CxSAST scans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3557015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3739895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Contrast IAST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758183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0C2A8"/>
                </a:solidFill>
                <a:latin typeface="Consolas"/>
              </a:rPr>
              <a:t>pncli contrast findings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3758183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Runtime vulnerabilities observed in running apps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398264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4581144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Sonatype IQ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4599432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0C2A8"/>
                </a:solidFill>
                <a:latin typeface="Consolas"/>
              </a:rPr>
              <a:t>pncli deps frisk --source sonatypeiq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4599432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Dependencies scanned against org security policy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239512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422392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SDElements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5440680"/>
            <a:ext cx="4206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00C2A8"/>
                </a:solidFill>
                <a:latin typeface="Consolas"/>
              </a:rPr>
              <a:t>pncli sde task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5440680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Threat-model tasks and compliance status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Static + runtime + dependencies + threat model — </a:t>
            </a:r>
            <a:r>
              <a:rPr sz="1500" b="0">
                <a:solidFill>
                  <a:srgbClr val="FFB454"/>
                </a:solidFill>
                <a:latin typeface="Segoe UI"/>
              </a:rPr>
              <a:t>scriptable enough to gate a pipeline or brief an AI agent before every release.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5A6B7E"/>
                </a:solidFill>
                <a:latin typeface="Segoe U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From 'is prod okay?' to root cause, fast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828800"/>
            <a:ext cx="6492240" cy="420624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93392"/>
            <a:ext cx="6035040" cy="3877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6E8299"/>
                </a:solidFill>
                <a:latin typeface="Consolas"/>
              </a:rPr>
              <a:t># health summary — phases, restarts, crash flags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openshift pods --namespace prod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D8E4F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6E8299"/>
                </a:solidFill>
                <a:latin typeface="Consolas"/>
              </a:rPr>
              <a:t># warning events, highest-frequency first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openshift events --namespace prod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D8E4F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6E8299"/>
                </a:solidFill>
                <a:latin typeface="Consolas"/>
              </a:rPr>
              <a:t># last 200 lines from the crashed instance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openshift logs --pod api-7d9f --previous \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      --container app --lines 200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D8E4F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400" b="0" i="1">
                <a:solidFill>
                  <a:srgbClr val="6E8299"/>
                </a:solidFill>
                <a:latin typeface="Consolas"/>
              </a:rPr>
              <a:t># per-container CPU / memory</a:t>
            </a:r>
          </a:p>
          <a:p>
            <a:pPr algn="l">
              <a:lnSpc>
                <a:spcPct val="125000"/>
              </a:lnSpc>
            </a:pPr>
            <a:r>
              <a:rPr sz="1400" b="0">
                <a:solidFill>
                  <a:srgbClr val="00C2A8"/>
                </a:solidFill>
                <a:latin typeface="Consolas"/>
              </a:rPr>
              <a:t>$ </a:t>
            </a:r>
            <a:r>
              <a:rPr sz="1400" b="0">
                <a:solidFill>
                  <a:srgbClr val="E8EFF7"/>
                </a:solidFill>
                <a:latin typeface="Consolas"/>
              </a:rPr>
              <a:t>pncli openshift pod-metrics --namespace prod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828800"/>
            <a:ext cx="4325112" cy="4206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35240" y="2103120"/>
            <a:ext cx="3749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1A2433"/>
                </a:solidFill>
                <a:latin typeface="Segoe UI"/>
              </a:rPr>
              <a:t>Why it's low-friction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2651760"/>
            <a:ext cx="3749039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0C2A8"/>
                </a:solidFill>
                <a:latin typeface="Segoe UI"/>
              </a:rPr>
              <a:t>—  </a:t>
            </a:r>
            <a:r>
              <a:rPr sz="1300" b="0">
                <a:solidFill>
                  <a:srgbClr val="5A6B7E"/>
                </a:solidFill>
                <a:latin typeface="Segoe UI"/>
              </a:rPr>
              <a:t>No kubectl or oc install — pure REST with a service-account token.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0C2A8"/>
                </a:solidFill>
                <a:latin typeface="Segoe UI"/>
              </a:rPr>
              <a:t>—  </a:t>
            </a:r>
            <a:r>
              <a:rPr sz="1300" b="0">
                <a:solidFill>
                  <a:srgbClr val="5A6B7E"/>
                </a:solidFill>
                <a:latin typeface="Segoe UI"/>
              </a:rPr>
              <a:t>Read-only RBAC: pods, logs, events, metrics. Easy to get approved.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0C2A8"/>
                </a:solidFill>
                <a:latin typeface="Segoe UI"/>
              </a:rPr>
              <a:t>—  </a:t>
            </a:r>
            <a:r>
              <a:rPr sz="1300" b="0">
                <a:solidFill>
                  <a:srgbClr val="5A6B7E"/>
                </a:solidFill>
                <a:latin typeface="Segoe UI"/>
              </a:rPr>
              <a:t>Output is pre-filtered for problems: warnings sorted by count, crash indicators surfaced.</a:t>
            </a:r>
          </a:p>
          <a:p>
            <a:pPr algn="l">
              <a:lnSpc>
                <a:spcPct val="120000"/>
              </a:lnSpc>
              <a:spcAft>
                <a:spcPts val="1000"/>
              </a:spcAft>
            </a:pPr>
            <a:r>
              <a:rPr sz="1300" b="1">
                <a:solidFill>
                  <a:srgbClr val="00C2A8"/>
                </a:solidFill>
                <a:latin typeface="Segoe UI"/>
              </a:rPr>
              <a:t>—  </a:t>
            </a:r>
            <a:r>
              <a:rPr sz="1300" b="0">
                <a:solidFill>
                  <a:srgbClr val="5A6B7E"/>
                </a:solidFill>
                <a:latin typeface="Segoe UI"/>
              </a:rPr>
              <a:t>Plus: UrbanCode deployments and ServiceNow changes/incidents from the same CLI.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FORCE MULTIPLIER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7C8CA0"/>
                </a:solidFill>
                <a:latin typeface="Segoe U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FFFFFF"/>
                </a:solidFill>
                <a:latin typeface="Segoe UI"/>
              </a:rPr>
              <a:t>Skills Marketplace: ship your org's AI expertise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6459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50" b="0">
                <a:solidFill>
                  <a:srgbClr val="AFBECF"/>
                </a:solidFill>
                <a:latin typeface="Segoe UI"/>
              </a:rPr>
              <a:t>Package internal know-how as Claude Code / GitHub Copilot skills in private git repos — then distribute them like packages.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331720"/>
            <a:ext cx="6492240" cy="3017520"/>
          </a:xfrm>
          <a:prstGeom prst="roundRect">
            <a:avLst>
              <a:gd name="adj" fmla="val 6000"/>
            </a:avLst>
          </a:prstGeom>
          <a:solidFill>
            <a:srgbClr val="1018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496312"/>
            <a:ext cx="6035040" cy="2688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 i="1">
                <a:solidFill>
                  <a:srgbClr val="6E8299"/>
                </a:solidFill>
                <a:latin typeface="Consolas"/>
              </a:rPr>
              <a:t># register an internal marketplace repo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skills marketplace add \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  https://bitbucket.company.com/scm/ai/skills.git \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  --name internal-ai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D8E4F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50" b="0" i="1">
                <a:solidFill>
                  <a:srgbClr val="6E8299"/>
                </a:solidFill>
                <a:latin typeface="Consolas"/>
              </a:rPr>
              <a:t># browse, then install for Claude Code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skills marketplace plugins internal-ai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skills marketplace sync my-plugin --claude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D8E4F0"/>
                </a:solidFill>
                <a:latin typeface="Consolas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350" b="0" i="1">
                <a:solidFill>
                  <a:srgbClr val="6E8299"/>
                </a:solidFill>
                <a:latin typeface="Consolas"/>
              </a:rPr>
              <a:t># pull every plugin from every marketplace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00C2A8"/>
                </a:solidFill>
                <a:latin typeface="Consolas"/>
              </a:rPr>
              <a:t>$ </a:t>
            </a:r>
            <a:r>
              <a:rPr sz="1350" b="0">
                <a:solidFill>
                  <a:srgbClr val="E8EFF7"/>
                </a:solidFill>
                <a:latin typeface="Consolas"/>
              </a:rPr>
              <a:t>pncli skills marketplace sync --marketplace 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0" y="2331720"/>
            <a:ext cx="4325112" cy="3017520"/>
          </a:xfrm>
          <a:prstGeom prst="roundRect">
            <a:avLst>
              <a:gd name="adj" fmla="val 8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0" y="2606040"/>
            <a:ext cx="3794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FFB454"/>
                </a:solidFill>
                <a:latin typeface="Segoe UI"/>
              </a:rPr>
              <a:t>Why it matters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520" y="3108960"/>
            <a:ext cx="379476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>
                <a:solidFill>
                  <a:srgbClr val="00C2A8"/>
                </a:solidFill>
                <a:latin typeface="Segoe UI"/>
              </a:rPr>
              <a:t>—  </a:t>
            </a:r>
            <a:r>
              <a:rPr sz="1250" b="0">
                <a:solidFill>
                  <a:srgbClr val="C5D2E0"/>
                </a:solidFill>
                <a:latin typeface="Segoe UI"/>
              </a:rPr>
              <a:t>Skills stay inside the firewall — private git repos only.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>
                <a:solidFill>
                  <a:srgbClr val="00C2A8"/>
                </a:solidFill>
                <a:latin typeface="Segoe UI"/>
              </a:rPr>
              <a:t>—  </a:t>
            </a:r>
            <a:r>
              <a:rPr sz="1250" b="0">
                <a:solidFill>
                  <a:srgbClr val="C5D2E0"/>
                </a:solidFill>
                <a:latin typeface="Segoe UI"/>
              </a:rPr>
              <a:t>Multiple marketplaces per org; team-level and org-level catalogs coexist.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>
                <a:solidFill>
                  <a:srgbClr val="00C2A8"/>
                </a:solidFill>
                <a:latin typeface="Segoe UI"/>
              </a:rPr>
              <a:t>—  </a:t>
            </a:r>
            <a:r>
              <a:rPr sz="1250" b="0">
                <a:solidFill>
                  <a:srgbClr val="C5D2E0"/>
                </a:solidFill>
                <a:latin typeface="Segoe UI"/>
              </a:rPr>
              <a:t>Sync skips unchanged repos; --force reinstalls when needed.</a:t>
            </a:r>
          </a:p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250" b="1">
                <a:solidFill>
                  <a:srgbClr val="00C2A8"/>
                </a:solidFill>
                <a:latin typeface="Segoe UI"/>
              </a:rPr>
              <a:t>—  </a:t>
            </a:r>
            <a:r>
              <a:rPr sz="1250" b="0">
                <a:solidFill>
                  <a:srgbClr val="C5D2E0"/>
                </a:solidFill>
                <a:latin typeface="Segoe UI"/>
              </a:rPr>
              <a:t>Works for both Claude Code and GitHub Copilot skill formats.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66928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Segoe UI"/>
              </a:rPr>
              <a:t>The loop closes: </a:t>
            </a:r>
            <a:r>
              <a:rPr sz="1500" b="0">
                <a:solidFill>
                  <a:srgbClr val="00C2A8"/>
                </a:solidFill>
                <a:latin typeface="Segoe UI"/>
              </a:rPr>
              <a:t>this very presentation was built by an AI agent using a pncli skill installed this way.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502920"/>
            <a:ext cx="457200" cy="64008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21792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C2A8"/>
                </a:solidFill>
                <a:latin typeface="Segoe UI"/>
              </a:rPr>
              <a:t>GETTING STARTED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21792"/>
            <a:ext cx="640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300" b="1">
                <a:solidFill>
                  <a:srgbClr val="5A6B7E"/>
                </a:solidFill>
                <a:latin typeface="Segoe U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60120"/>
            <a:ext cx="110642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>
                <a:solidFill>
                  <a:srgbClr val="1A2433"/>
                </a:solidFill>
                <a:latin typeface="Segoe UI"/>
              </a:rPr>
              <a:t>Productive in under ten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202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4672" y="21945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2286000"/>
            <a:ext cx="603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066544"/>
            <a:ext cx="4206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Identity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24871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pncli config set user.email you@company.com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9202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73952" y="21945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286000"/>
            <a:ext cx="603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066544"/>
            <a:ext cx="4206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Work tracking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0" y="24871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Jira or ADO — set baseUrl + token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32918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4672" y="35661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3657600"/>
            <a:ext cx="603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45920" y="3438144"/>
            <a:ext cx="4206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Source control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45920" y="38587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GitHub, Bitbucket, or ADO — set baseUrl + PAT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2918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473952" y="35661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73952" y="3657600"/>
            <a:ext cx="603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0" y="3438144"/>
            <a:ext cx="4206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Optional services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0" y="38587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Sonar, Jenkins, OpenShift... only what you use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46634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04672" y="49377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04672" y="5029200"/>
            <a:ext cx="603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45920" y="4809744"/>
            <a:ext cx="4206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Repo defaults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52303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pncli config set --repo defaults.jira.project ACME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4663440"/>
            <a:ext cx="544068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473952" y="4937760"/>
            <a:ext cx="603504" cy="603504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73952" y="5029200"/>
            <a:ext cx="60350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0" y="4809744"/>
            <a:ext cx="4206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1A2433"/>
                </a:solidFill>
                <a:latin typeface="Segoe UI"/>
              </a:rPr>
              <a:t>Verify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5230368"/>
            <a:ext cx="4206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0">
                <a:solidFill>
                  <a:srgbClr val="5A6B7E"/>
                </a:solidFill>
                <a:latin typeface="Consolas"/>
              </a:rPr>
              <a:t>pncli config test  →  every service: ok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" y="6172200"/>
            <a:ext cx="11064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400" b="0">
                <a:solidFill>
                  <a:srgbClr val="5A6B7E"/>
                </a:solidFill>
                <a:latin typeface="Segoe UI"/>
              </a:rPr>
              <a:t>Or just ask your AI agent: </a:t>
            </a:r>
            <a:r>
              <a:rPr sz="1400" b="1">
                <a:solidFill>
                  <a:srgbClr val="1A2433"/>
                </a:solidFill>
                <a:latin typeface="Segoe UI"/>
              </a:rPr>
              <a:t>the pncli setup skill walks through all six steps interactively.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C2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961120" y="4023360"/>
            <a:ext cx="5486400" cy="5486400"/>
          </a:xfrm>
          <a:prstGeom prst="roundRect">
            <a:avLst>
              <a:gd name="adj" fmla="val 50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4000" b="1">
                <a:solidFill>
                  <a:srgbClr val="FFFFFF"/>
                </a:solidFill>
                <a:latin typeface="Segoe UI"/>
              </a:rPr>
              <a:t>Seventeen tools. </a:t>
            </a:r>
            <a:r>
              <a:rPr sz="4000" b="1">
                <a:solidFill>
                  <a:srgbClr val="00C2A8"/>
                </a:solidFill>
                <a:latin typeface="Segoe UI"/>
              </a:rPr>
              <a:t>One interface.</a:t>
            </a:r>
          </a:p>
          <a:p>
            <a:pPr algn="l">
              <a:lnSpc>
                <a:spcPct val="110000"/>
              </a:lnSpc>
              <a:spcAft>
                <a:spcPts val="1000"/>
              </a:spcAft>
            </a:pPr>
            <a:r>
              <a:rPr sz="2000" b="0">
                <a:solidFill>
                  <a:srgbClr val="AFBECF"/>
                </a:solidFill>
                <a:latin typeface="Segoe UI"/>
              </a:rPr>
              <a:t>Humans and AI agents, finally on the same toolchain.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383280"/>
            <a:ext cx="3429000" cy="173736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97280" y="3675888"/>
            <a:ext cx="457200" cy="73152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3858768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Pilot 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297680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One team, one sprint: identity + tracker + source control + config test.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0560" y="3383280"/>
            <a:ext cx="3429000" cy="173736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54880" y="3675888"/>
            <a:ext cx="457200" cy="73152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54880" y="3858768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Wire in an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4297680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Point your coding agent at pncli for tickets, PRs, and prod checks.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3383280"/>
            <a:ext cx="3429000" cy="1737360"/>
          </a:xfrm>
          <a:prstGeom prst="roundRect">
            <a:avLst>
              <a:gd name="adj" fmla="val 9000"/>
            </a:avLst>
          </a:prstGeom>
          <a:solidFill>
            <a:srgbClr val="1627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412480" y="3675888"/>
            <a:ext cx="457200" cy="73152"/>
          </a:xfrm>
          <a:prstGeom prst="rect">
            <a:avLst/>
          </a:prstGeom>
          <a:solidFill>
            <a:srgbClr val="FFB4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3858768"/>
            <a:ext cx="2880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FFFFFF"/>
                </a:solidFill>
                <a:latin typeface="Segoe UI"/>
              </a:rPr>
              <a:t>Seed the marketplace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4297680"/>
            <a:ext cx="28803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C5D2E0"/>
                </a:solidFill>
                <a:latin typeface="Segoe UI"/>
              </a:rPr>
              <a:t>Stand up an internal skills repo and publish your first team skill.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7607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C2A8"/>
                </a:solidFill>
                <a:latin typeface="Consolas"/>
              </a:rPr>
              <a:t>pncli config test</a:t>
            </a:r>
            <a:r>
              <a:rPr sz="1600" b="0">
                <a:solidFill>
                  <a:srgbClr val="AFBECF"/>
                </a:solidFill>
                <a:latin typeface="Segoe UI"/>
              </a:rPr>
              <a:t>   —   green across the board is ten minutes away.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